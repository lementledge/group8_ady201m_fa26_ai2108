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0" r:id="rId1"/>
  </p:sldMasterIdLst>
  <p:notesMasterIdLst>
    <p:notesMasterId r:id="rId22"/>
  </p:notesMasterIdLst>
  <p:sldIdLst>
    <p:sldId id="295" r:id="rId2"/>
    <p:sldId id="257" r:id="rId3"/>
    <p:sldId id="258" r:id="rId4"/>
    <p:sldId id="259" r:id="rId5"/>
    <p:sldId id="282" r:id="rId6"/>
    <p:sldId id="280" r:id="rId7"/>
    <p:sldId id="260" r:id="rId8"/>
    <p:sldId id="283" r:id="rId9"/>
    <p:sldId id="284" r:id="rId10"/>
    <p:sldId id="293" r:id="rId11"/>
    <p:sldId id="294" r:id="rId12"/>
    <p:sldId id="286" r:id="rId13"/>
    <p:sldId id="261" r:id="rId14"/>
    <p:sldId id="262" r:id="rId15"/>
    <p:sldId id="287" r:id="rId16"/>
    <p:sldId id="288" r:id="rId17"/>
    <p:sldId id="289" r:id="rId18"/>
    <p:sldId id="290" r:id="rId19"/>
    <p:sldId id="291" r:id="rId20"/>
    <p:sldId id="292" r:id="rId2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AB749D-D880-42C7-835F-82B6F0FD7B2D}" v="1" dt="2026-06-01T03:23:34.9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4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70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Nhat Tung" userId="77b0905b33e1f80d" providerId="LiveId" clId="{A4964FA4-2953-4C64-887E-A60447789925}"/>
    <pc:docChg chg="addSld delSld modSld">
      <pc:chgData name="Le Nhat Tung" userId="77b0905b33e1f80d" providerId="LiveId" clId="{A4964FA4-2953-4C64-887E-A60447789925}" dt="2026-06-01T03:25:39.958" v="69" actId="1076"/>
      <pc:docMkLst>
        <pc:docMk/>
      </pc:docMkLst>
      <pc:sldChg chg="del">
        <pc:chgData name="Le Nhat Tung" userId="77b0905b33e1f80d" providerId="LiveId" clId="{A4964FA4-2953-4C64-887E-A60447789925}" dt="2026-06-01T03:23:50.596" v="62" actId="47"/>
        <pc:sldMkLst>
          <pc:docMk/>
          <pc:sldMk cId="0" sldId="279"/>
        </pc:sldMkLst>
      </pc:sldChg>
      <pc:sldChg chg="modSp mod">
        <pc:chgData name="Le Nhat Tung" userId="77b0905b33e1f80d" providerId="LiveId" clId="{A4964FA4-2953-4C64-887E-A60447789925}" dt="2026-06-01T03:22:42.695" v="51" actId="20577"/>
        <pc:sldMkLst>
          <pc:docMk/>
          <pc:sldMk cId="0" sldId="288"/>
        </pc:sldMkLst>
        <pc:graphicFrameChg chg="modGraphic">
          <ac:chgData name="Le Nhat Tung" userId="77b0905b33e1f80d" providerId="LiveId" clId="{A4964FA4-2953-4C64-887E-A60447789925}" dt="2026-06-01T03:22:42.695" v="51" actId="20577"/>
          <ac:graphicFrameMkLst>
            <pc:docMk/>
            <pc:sldMk cId="0" sldId="288"/>
            <ac:graphicFrameMk id="4" creationId="{00000000-0000-0000-0000-000000000000}"/>
          </ac:graphicFrameMkLst>
        </pc:graphicFrameChg>
      </pc:sldChg>
      <pc:sldChg chg="modSp mod">
        <pc:chgData name="Le Nhat Tung" userId="77b0905b33e1f80d" providerId="LiveId" clId="{A4964FA4-2953-4C64-887E-A60447789925}" dt="2026-06-01T03:23:18.666" v="60" actId="20577"/>
        <pc:sldMkLst>
          <pc:docMk/>
          <pc:sldMk cId="0" sldId="291"/>
        </pc:sldMkLst>
        <pc:spChg chg="mod">
          <ac:chgData name="Le Nhat Tung" userId="77b0905b33e1f80d" providerId="LiveId" clId="{A4964FA4-2953-4C64-887E-A60447789925}" dt="2026-06-01T03:23:18.666" v="60" actId="20577"/>
          <ac:spMkLst>
            <pc:docMk/>
            <pc:sldMk cId="0" sldId="291"/>
            <ac:spMk id="4" creationId="{00000000-0000-0000-0000-000000000000}"/>
          </ac:spMkLst>
        </pc:spChg>
      </pc:sldChg>
      <pc:sldChg chg="addSp modSp add mod">
        <pc:chgData name="Le Nhat Tung" userId="77b0905b33e1f80d" providerId="LiveId" clId="{A4964FA4-2953-4C64-887E-A60447789925}" dt="2026-06-01T03:25:39.958" v="69" actId="1076"/>
        <pc:sldMkLst>
          <pc:docMk/>
          <pc:sldMk cId="0" sldId="295"/>
        </pc:sldMkLst>
        <pc:picChg chg="add mod">
          <ac:chgData name="Le Nhat Tung" userId="77b0905b33e1f80d" providerId="LiveId" clId="{A4964FA4-2953-4C64-887E-A60447789925}" dt="2026-06-01T03:25:39.958" v="69" actId="1076"/>
          <ac:picMkLst>
            <pc:docMk/>
            <pc:sldMk cId="0" sldId="295"/>
            <ac:picMk id="3" creationId="{0F432BE8-E2E0-949D-EAF2-415305F0F0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37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34BBB-3EB4-2080-5DC0-6DF31E7D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39BEB-A4F2-980F-E24C-B08AB51F2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00B6B-CA79-DA23-7D91-EFD834A35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52B9F-AD27-E43F-4A95-6285EA8BD1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87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83423-31C0-A7B1-D5F1-5D73359B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7ED6B-C6A7-A390-C64C-CB4EA35E3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FFE50-FE87-82A2-C134-49F387DF3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DB6AB-1281-BC7F-45D8-B95280BF7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84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83423-31C0-A7B1-D5F1-5D73359B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7ED6B-C6A7-A390-C64C-CB4EA35E3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FFE50-FE87-82A2-C134-49F387DF3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DB6AB-1281-BC7F-45D8-B95280BF7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84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718AE611-130E-0D2E-E802-8A36716DB9FC}"/>
              </a:ext>
            </a:extLst>
          </p:cNvPr>
          <p:cNvSpPr txBox="1">
            <a:spLocks/>
          </p:cNvSpPr>
          <p:nvPr/>
        </p:nvSpPr>
        <p:spPr>
          <a:xfrm>
            <a:off x="1142999" y="2667001"/>
            <a:ext cx="6858000" cy="4320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4CE541A-6BE9-11BD-EA23-8EFFEB67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08" y="584669"/>
            <a:ext cx="8177981" cy="1172951"/>
          </a:xfrm>
          <a:prstGeom prst="roundRect">
            <a:avLst/>
          </a:prstGeom>
          <a:solidFill>
            <a:schemeClr val="accent1"/>
          </a:solidFill>
          <a:effectLst>
            <a:outerShdw blurRad="152400" dist="177800" dir="2700000" algn="tl" rotWithShape="0">
              <a:prstClr val="black">
                <a:alpha val="28000"/>
              </a:prstClr>
            </a:outerShdw>
          </a:effectLst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B9EEEA-4E55-EBA2-FD56-C7F246D4D4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909" y="2156870"/>
            <a:ext cx="6022181" cy="66632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Your name here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7712E16-869E-C669-4D08-61CB38A95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60908" y="3012689"/>
            <a:ext cx="6022181" cy="871725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pPr lvl="0"/>
            <a:r>
              <a:rPr lang="en-US" dirty="0"/>
              <a:t>Your Institution here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F3E5E026-FF93-380A-0369-EE921FD448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60908" y="4084776"/>
            <a:ext cx="6022181" cy="60543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08177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10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53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90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1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94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92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44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75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  <a:lvl2pPr marL="514350" indent="-171450" algn="just" defTabSz="685800" rtl="0" eaLnBrk="1" latinLnBrk="0" hangingPunct="1">
        <a:lnSpc>
          <a:spcPct val="110000"/>
        </a:lnSpc>
        <a:spcBef>
          <a:spcPts val="45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PROJECT TITLE</a:t>
            </a:r>
            <a:endParaRPr lang="vi-VN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560909" y="4225670"/>
            <a:ext cx="6022181" cy="666324"/>
          </a:xfrm>
        </p:spPr>
        <p:txBody>
          <a:bodyPr/>
          <a:lstStyle/>
          <a:p>
            <a:r>
              <a:rPr lang="en-US" sz="2000" dirty="0"/>
              <a:t>Ho Chi Minh City, Year</a:t>
            </a:r>
            <a:endParaRPr lang="vi-VN" sz="2000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83010" y="2428875"/>
            <a:ext cx="2461990" cy="871725"/>
          </a:xfrm>
        </p:spPr>
        <p:txBody>
          <a:bodyPr>
            <a:noAutofit/>
          </a:bodyPr>
          <a:lstStyle/>
          <a:p>
            <a:r>
              <a:rPr lang="en-US" sz="2000" dirty="0"/>
              <a:t>Students:</a:t>
            </a:r>
            <a:endParaRPr lang="vi-VN" sz="1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2ECFBEB-DBC9-E8DA-B66E-39EEC382F40D}"/>
              </a:ext>
            </a:extLst>
          </p:cNvPr>
          <p:cNvSpPr txBox="1">
            <a:spLocks/>
          </p:cNvSpPr>
          <p:nvPr/>
        </p:nvSpPr>
        <p:spPr>
          <a:xfrm>
            <a:off x="5398113" y="2428875"/>
            <a:ext cx="3049979" cy="666324"/>
          </a:xfrm>
        </p:spPr>
        <p:txBody>
          <a:bodyPr/>
          <a:lstStyle>
            <a:lvl1pPr marL="0" indent="0" algn="ctr" defTabSz="685800" rtl="0" eaLnBrk="1" latinLnBrk="0" hangingPunct="1">
              <a:lnSpc>
                <a:spcPct val="110000"/>
              </a:lnSpc>
              <a:spcBef>
                <a:spcPts val="750"/>
              </a:spcBef>
              <a:buClr>
                <a:schemeClr val="accent1"/>
              </a:buClr>
              <a:buSzPct val="120000"/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514350" indent="-171450" algn="just" defTabSz="685800" rtl="0" eaLnBrk="1" latinLnBrk="0" hangingPunct="1">
              <a:lnSpc>
                <a:spcPct val="110000"/>
              </a:lnSpc>
              <a:spcBef>
                <a:spcPts val="450"/>
              </a:spcBef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8572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2001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543050" indent="-171450" algn="l" defTabSz="685800" rtl="0" eaLnBrk="1" latinLnBrk="0" hangingPunct="1">
              <a:lnSpc>
                <a:spcPct val="110000"/>
              </a:lnSpc>
              <a:spcBef>
                <a:spcPts val="375"/>
              </a:spcBef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Supervisor:</a:t>
            </a:r>
            <a:endParaRPr lang="vi-VN" sz="1800" dirty="0"/>
          </a:p>
        </p:txBody>
      </p:sp>
      <p:pic>
        <p:nvPicPr>
          <p:cNvPr id="3" name="Picture 2" descr="Tập tin:Logo Trường Đại học FPT.svg – Wikipedia tiếng Việt">
            <a:extLst>
              <a:ext uri="{FF2B5EF4-FFF2-40B4-BE49-F238E27FC236}">
                <a16:creationId xmlns:a16="http://schemas.microsoft.com/office/drawing/2014/main" id="{0F432BE8-E2E0-949D-EAF2-415305F0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65" y="64909"/>
            <a:ext cx="944648" cy="3682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— Nội dung trình bày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báo cáo gồm 3 phần chính:</a:t>
            </a:r>
            <a:endParaRPr lang="vi-VN" sz="1600" dirty="0"/>
          </a:p>
          <a:p>
            <a:pPr>
              <a:spcAft>
                <a:spcPts val="200"/>
              </a:spcAft>
              <a:buNone/>
            </a:pPr>
            <a:endParaRPr lang="vi-VN" sz="300" dirty="0"/>
          </a:p>
          <a:p>
            <a:pPr marL="0" indent="0" algn="l">
              <a:spcAft>
                <a:spcPts val="250"/>
              </a:spcAft>
              <a:buNone/>
            </a:pPr>
            <a:r>
              <a:rPr lang="vi-VN" sz="16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Understanding the Problem &amp; Data</a:t>
            </a:r>
            <a:endParaRPr lang="vi-VN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vi-VN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· Research Questions · Data Understanding · SQL Queries</a:t>
            </a:r>
            <a:endParaRPr lang="vi-VN" sz="1300" dirty="0"/>
          </a:p>
          <a:p>
            <a:pPr marL="0" indent="0" algn="l">
              <a:spcAft>
                <a:spcPts val="250"/>
              </a:spcAft>
              <a:buNone/>
            </a:pPr>
            <a:r>
              <a:rPr lang="vi-VN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Python Analysis &amp; Visualization</a:t>
            </a:r>
            <a:endParaRPr lang="vi-VN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vi-VN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with Python · Visualization &amp; Evidence-Based Insights</a:t>
            </a:r>
            <a:endParaRPr lang="vi-VN" sz="1300" dirty="0"/>
          </a:p>
          <a:p>
            <a:pPr marL="0" indent="0" algn="l">
              <a:spcAft>
                <a:spcPts val="250"/>
              </a:spcAft>
              <a:buNone/>
            </a:pPr>
            <a:r>
              <a:rPr lang="vi-VN" sz="1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Modeling, Tool &amp; AI Reflection</a:t>
            </a:r>
            <a:endParaRPr lang="vi-VN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vi-VN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 · Analysis Tool · Q&amp;A + AI Reflection (20 pts)</a:t>
            </a:r>
            <a:endParaRPr lang="vi-VN" sz="1300" dirty="0"/>
          </a:p>
          <a:p>
            <a:pPr>
              <a:spcAft>
                <a:spcPts val="200"/>
              </a:spcAft>
              <a:buNone/>
            </a:pPr>
            <a:endParaRPr lang="vi-VN" sz="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ý: Sinh viên trình bày bằng tiếng Anh. Slide hướng dẫn ghi bằng tiếng Việt để dễ đọc.</a:t>
            </a:r>
            <a:endParaRPr lang="vi-V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t1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6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endParaRPr lang="vi-VN"/>
          </a:p>
        </p:txBody>
      </p:sp>
      <p:sp>
        <p:nvSpPr>
          <p:cNvPr id="3" name="Box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vi-VN" dirty="0"/>
          </a:p>
        </p:txBody>
      </p:sp>
      <p:sp>
        <p:nvSpPr>
          <p:cNvPr id="4" name="Box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Problem &amp; Data</a:t>
            </a:r>
            <a:endParaRPr lang="vi-VN" dirty="0"/>
          </a:p>
        </p:txBody>
      </p:sp>
      <p:sp>
        <p:nvSpPr>
          <p:cNvPr id="10" name="Box10"/>
          <p:cNvSpPr/>
          <p:nvPr/>
        </p:nvSpPr>
        <p:spPr>
          <a:xfrm>
            <a:off x="322000" y="2900000"/>
            <a:ext cx="2125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vi-VN" dirty="0"/>
          </a:p>
        </p:txBody>
      </p:sp>
      <p:sp>
        <p:nvSpPr>
          <p:cNvPr id="11" name="Box11"/>
          <p:cNvSpPr/>
          <p:nvPr/>
        </p:nvSpPr>
        <p:spPr>
          <a:xfrm>
            <a:off x="2497000" y="2900000"/>
            <a:ext cx="2125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vi-VN" dirty="0"/>
          </a:p>
        </p:txBody>
      </p:sp>
      <p:sp>
        <p:nvSpPr>
          <p:cNvPr id="12" name="Box12"/>
          <p:cNvSpPr/>
          <p:nvPr/>
        </p:nvSpPr>
        <p:spPr>
          <a:xfrm>
            <a:off x="4672000" y="2900000"/>
            <a:ext cx="2125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vi-VN" dirty="0"/>
          </a:p>
        </p:txBody>
      </p:sp>
      <p:sp>
        <p:nvSpPr>
          <p:cNvPr id="13" name="Box13"/>
          <p:cNvSpPr/>
          <p:nvPr/>
        </p:nvSpPr>
        <p:spPr>
          <a:xfrm>
            <a:off x="6847000" y="2900000"/>
            <a:ext cx="2125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vi-V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dẫn: Nhóm đặt ít nhất 3 Research Questions rõ ràng, có thể trả lời được bằng dữ liệu.</a:t>
            </a:r>
            <a:endParaRPr lang="vi-VN" sz="135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3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RQ phải liên kết với ít nhất 1 SQL query hoặc Python analysis ở phần sau.</a:t>
            </a:r>
            <a:endParaRPr lang="vi-VN" sz="1350" dirty="0"/>
          </a:p>
          <a:p>
            <a:pPr>
              <a:spcAft>
                <a:spcPts val="200"/>
              </a:spcAft>
              <a:buNone/>
            </a:pPr>
            <a:endParaRPr lang="vi-VN" sz="400" dirty="0"/>
          </a:p>
          <a:p>
            <a:pPr marL="0" indent="0" algn="l">
              <a:spcAft>
                <a:spcPts val="150"/>
              </a:spcAft>
              <a:buNone/>
            </a:pPr>
            <a:r>
              <a:rPr lang="vi-VN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[RQ1]  Example: Which product categories generate the highest revenue per quarter?</a:t>
            </a:r>
            <a:endParaRPr lang="vi-VN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vi-VN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Link to: SQL query — GROUP BY category, quarter → ORDER BY revenue DESC</a:t>
            </a:r>
            <a:endParaRPr lang="vi-VN" sz="1250" dirty="0"/>
          </a:p>
          <a:p>
            <a:pPr marL="0" indent="0" algn="l">
              <a:spcAft>
                <a:spcPts val="150"/>
              </a:spcAft>
              <a:buNone/>
            </a:pPr>
            <a:r>
              <a:rPr lang="vi-VN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[RQ2]  Example: Which customer segment has the highest churn rate?</a:t>
            </a:r>
            <a:endParaRPr lang="vi-VN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vi-VN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Link to: Python clustering / SQL subquery on customer transactions</a:t>
            </a:r>
            <a:endParaRPr lang="vi-VN" sz="1250" dirty="0"/>
          </a:p>
          <a:p>
            <a:pPr marL="0" indent="0" algn="l">
              <a:spcAft>
                <a:spcPts val="150"/>
              </a:spcAft>
              <a:buNone/>
            </a:pPr>
            <a:r>
              <a:rPr lang="vi-VN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[RQ3]  Example: What factors most influence average order value?</a:t>
            </a:r>
            <a:endParaRPr lang="vi-VN" sz="1400" dirty="0"/>
          </a:p>
          <a:p>
            <a:pPr marL="0" indent="0" algn="l">
              <a:spcAft>
                <a:spcPts val="500"/>
              </a:spcAft>
              <a:buNone/>
            </a:pPr>
            <a:r>
              <a:rPr lang="vi-VN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Link to: Regression model + SQL correlation query on order features</a:t>
            </a:r>
            <a:endParaRPr lang="vi-VN" sz="1250" dirty="0"/>
          </a:p>
          <a:p>
            <a:pPr>
              <a:spcAft>
                <a:spcPts val="200"/>
              </a:spcAft>
              <a:buNone/>
            </a:pPr>
            <a:endParaRPr lang="vi-VN" sz="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Nhóm thay các ví dụ trên bằng Research Questions thực tế của dự án (ít nhất 3 RQ).</a:t>
            </a:r>
            <a:endParaRPr lang="vi-V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Problem Statement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160782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Criteria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nội dung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problem / topic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Nêu rõ vấn đề cần giải quyết, phạm vi dữ liệu, bối cảnh thực tế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the analysis objective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muốn tìm hiểu / dự đoán / phân loại điều gì từ dữ liệu?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Justify the approach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SQL + Python + mô hình gì? Tại sao chọn phương pháp này?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 1–2 reliable sources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Trích dẫn paper / bài báo / dataset gốc để justify bài toán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 required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brainstorm vấn đề, xác định RQ, reflection về độ chính xác AI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taUnderst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Data Understanding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187452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present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/ UCI / scraped / company — ghi rõ URL và đối tượng thu thập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size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 dụ: 50,000 dòng × 12 cột — mô tả số hàng, số biến, định dạng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variables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Biến phụ thuộc (target) và biến độc lập quan trọng nhất — lý do chọn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 decisions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Xử lý null: loại bỏ / fill. Chuẩn hóa. Encode categorical. Lý do?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 charts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Histogram, heatmap tương quan, boxplot — mỗi chart cần nhận xét 1 câu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EDA, data profiling và các quyết định preprocessing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QL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SQL Queries — Số lượng tối thiểu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định số lượng SQL Queries:</a:t>
            </a:r>
            <a:endParaRPr lang="vi-VN" sz="1700" dirty="0"/>
          </a:p>
          <a:p>
            <a:pPr>
              <a:spcAft>
                <a:spcPts val="200"/>
              </a:spcAft>
              <a:buNone/>
            </a:pPr>
            <a:endParaRPr lang="vi-VN" sz="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vi-VN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queries  =  Group size  ×  3</a:t>
            </a:r>
            <a:endParaRPr lang="vi-VN" sz="24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vi-VN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5 queries for groups with 1 member</a:t>
            </a:r>
            <a:endParaRPr lang="vi-VN" sz="1600" dirty="0"/>
          </a:p>
          <a:p>
            <a:pPr>
              <a:spcAft>
                <a:spcPts val="200"/>
              </a:spcAft>
              <a:buNone/>
            </a:pPr>
            <a:endParaRPr lang="vi-VN" sz="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minh hoạ:</a:t>
            </a:r>
            <a:endParaRPr lang="vi-VN" sz="160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4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member   →   5 queries  (minimum)</a:t>
            </a:r>
            <a:endParaRPr lang="vi-VN" sz="145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4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members  →   6 queries</a:t>
            </a:r>
            <a:endParaRPr lang="vi-VN" sz="145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4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members  →   9 queries</a:t>
            </a:r>
            <a:endParaRPr lang="vi-VN" sz="145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4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members  →   12 queries</a:t>
            </a:r>
            <a:endParaRPr lang="vi-VN" sz="145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4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members  →   15 queries</a:t>
            </a:r>
            <a:endParaRPr lang="vi-VN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QL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SQL Analysis — Query Count by Group Size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16078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size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queries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member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max(1×3, 5)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queries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members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3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queries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members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3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queries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members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3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queries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members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× 3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queries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QLStr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SQL Analysis — Structure of Each Query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1874520"/>
        </p:xfrm>
        <a:graphic>
          <a:graphicData uri="http://schemas.openxmlformats.org/drawingml/2006/table">
            <a:tbl>
              <a:tblPr/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element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to RQ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rõ: 'This query answers RQ[number]' — bắt buộc với mọi query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code block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Hiển thị đầy đủ code — không cắt ngắn. Dùng monospace / code block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result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hoặc bảng kết quả thực tế từ database / notebook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Giải thích ý nghĩa kết quả — 1–2 câu ngắn gọn bằng tiếng Anh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type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loại: SELECT · JOIN · GROUP BY · Subquery · Window Function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dùng để sinh / kiểm tra query; Human Delta (phần nhóm tự sửa)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SQL Queries</a:t>
            </a:r>
            <a:endParaRPr lang="vi-VN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LabelBox0"/>
          <p:cNvSpPr/>
          <p:nvPr/>
        </p:nvSpPr>
        <p:spPr>
          <a:xfrm>
            <a:off x="457200" y="1100000"/>
            <a:ext cx="2600000" cy="640000"/>
          </a:xfrm>
          <a:prstGeom prst="rect">
            <a:avLst/>
          </a:prstGeom>
          <a:solidFill>
            <a:srgbClr val="1F3864"/>
          </a:solidFill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SELECT cơ bản</a:t>
            </a:r>
            <a:endParaRPr lang="vi-VN" sz="1400" dirty="0"/>
          </a:p>
        </p:txBody>
      </p:sp>
      <p:sp>
        <p:nvSpPr>
          <p:cNvPr id="11" name="ExBox0"/>
          <p:cNvSpPr/>
          <p:nvPr/>
        </p:nvSpPr>
        <p:spPr>
          <a:xfrm>
            <a:off x="3077200" y="1100000"/>
            <a:ext cx="5609600" cy="640000"/>
          </a:xfrm>
          <a:prstGeom prst="rect">
            <a:avLst/>
          </a:prstGeom>
          <a:solidFill>
            <a:srgbClr val="EEF2FF"/>
          </a:solidFill>
          <a:ln w="9525">
            <a:solidFill>
              <a:srgbClr val="C5CAE9"/>
            </a:solidFill>
          </a:ln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WHERE, ORDER BY, LIMIT, DISTINCT</a:t>
            </a:r>
            <a:endParaRPr lang="vi-VN" sz="1200" dirty="0"/>
          </a:p>
        </p:txBody>
      </p:sp>
      <p:sp>
        <p:nvSpPr>
          <p:cNvPr id="13" name="LabelBox1"/>
          <p:cNvSpPr/>
          <p:nvPr/>
        </p:nvSpPr>
        <p:spPr>
          <a:xfrm>
            <a:off x="457200" y="1800000"/>
            <a:ext cx="2600000" cy="640000"/>
          </a:xfrm>
          <a:prstGeom prst="rect">
            <a:avLst/>
          </a:prstGeom>
          <a:solidFill>
            <a:srgbClr val="1A3F7A"/>
          </a:solidFill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JOIN và quan hệ</a:t>
            </a:r>
            <a:endParaRPr lang="vi-VN" sz="1400" dirty="0"/>
          </a:p>
        </p:txBody>
      </p:sp>
      <p:sp>
        <p:nvSpPr>
          <p:cNvPr id="14" name="ExBox1"/>
          <p:cNvSpPr/>
          <p:nvPr/>
        </p:nvSpPr>
        <p:spPr>
          <a:xfrm>
            <a:off x="3077200" y="1800000"/>
            <a:ext cx="5609600" cy="6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JOIN, LEFT JOIN, RIGHT JOIN, FULL JOIN</a:t>
            </a:r>
            <a:endParaRPr lang="vi-VN" sz="1200" dirty="0"/>
          </a:p>
        </p:txBody>
      </p:sp>
      <p:sp>
        <p:nvSpPr>
          <p:cNvPr id="16" name="LabelBox2"/>
          <p:cNvSpPr/>
          <p:nvPr/>
        </p:nvSpPr>
        <p:spPr>
          <a:xfrm>
            <a:off x="457200" y="2500000"/>
            <a:ext cx="2600000" cy="640000"/>
          </a:xfrm>
          <a:prstGeom prst="rect">
            <a:avLst/>
          </a:prstGeom>
          <a:solidFill>
            <a:srgbClr val="24478A"/>
          </a:solidFill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GROUP BY và Aggregation</a:t>
            </a:r>
            <a:endParaRPr lang="vi-VN" sz="1400" dirty="0"/>
          </a:p>
        </p:txBody>
      </p:sp>
      <p:sp>
        <p:nvSpPr>
          <p:cNvPr id="17" name="ExBox2"/>
          <p:cNvSpPr/>
          <p:nvPr/>
        </p:nvSpPr>
        <p:spPr>
          <a:xfrm>
            <a:off x="3077200" y="2500000"/>
            <a:ext cx="5609600" cy="640000"/>
          </a:xfrm>
          <a:prstGeom prst="rect">
            <a:avLst/>
          </a:prstGeom>
          <a:solidFill>
            <a:srgbClr val="EEF2FF"/>
          </a:solidFill>
          <a:ln w="9525">
            <a:solidFill>
              <a:srgbClr val="C5CAE9"/>
            </a:solidFill>
          </a:ln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BY, HAVING, COUNT, SUM, AVG, MIN, MAX</a:t>
            </a:r>
            <a:endParaRPr lang="vi-VN" sz="1200" dirty="0"/>
          </a:p>
        </p:txBody>
      </p:sp>
      <p:sp>
        <p:nvSpPr>
          <p:cNvPr id="19" name="LabelBox3"/>
          <p:cNvSpPr/>
          <p:nvPr/>
        </p:nvSpPr>
        <p:spPr>
          <a:xfrm>
            <a:off x="457200" y="3200000"/>
            <a:ext cx="2600000" cy="640000"/>
          </a:xfrm>
          <a:prstGeom prst="rect">
            <a:avLst/>
          </a:prstGeom>
          <a:solidFill>
            <a:srgbClr val="1E4080"/>
          </a:solidFill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Subquery / CTE</a:t>
            </a:r>
            <a:endParaRPr lang="vi-VN" sz="1400" dirty="0"/>
          </a:p>
        </p:txBody>
      </p:sp>
      <p:sp>
        <p:nvSpPr>
          <p:cNvPr id="20" name="ExBox3"/>
          <p:cNvSpPr/>
          <p:nvPr/>
        </p:nvSpPr>
        <p:spPr>
          <a:xfrm>
            <a:off x="3077200" y="3200000"/>
            <a:ext cx="5609600" cy="6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Subquery trong WHERE/FROM, WITH...AS (CTE)</a:t>
            </a:r>
            <a:endParaRPr lang="vi-VN" sz="1200" dirty="0"/>
          </a:p>
        </p:txBody>
      </p:sp>
      <p:sp>
        <p:nvSpPr>
          <p:cNvPr id="22" name="LabelBox4"/>
          <p:cNvSpPr/>
          <p:nvPr/>
        </p:nvSpPr>
        <p:spPr>
          <a:xfrm>
            <a:off x="457200" y="3900000"/>
            <a:ext cx="2600000" cy="640000"/>
          </a:xfrm>
          <a:prstGeom prst="rect">
            <a:avLst/>
          </a:prstGeom>
          <a:solidFill>
            <a:srgbClr val="1A3568"/>
          </a:solidFill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Window Function</a:t>
            </a:r>
            <a:endParaRPr lang="vi-VN" sz="1400" dirty="0"/>
          </a:p>
        </p:txBody>
      </p:sp>
      <p:sp>
        <p:nvSpPr>
          <p:cNvPr id="23" name="ExBox4"/>
          <p:cNvSpPr/>
          <p:nvPr/>
        </p:nvSpPr>
        <p:spPr>
          <a:xfrm>
            <a:off x="3077200" y="3900000"/>
            <a:ext cx="5609600" cy="640000"/>
          </a:xfrm>
          <a:prstGeom prst="rect">
            <a:avLst/>
          </a:prstGeom>
          <a:solidFill>
            <a:srgbClr val="EEF2FF"/>
          </a:solidFill>
          <a:ln w="9525">
            <a:solidFill>
              <a:srgbClr val="C5CAE9"/>
            </a:solidFill>
          </a:ln>
        </p:spPr>
        <p:txBody>
          <a:bodyPr wrap="square" lIns="91440" rIns="9144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RANK(), ROW_NUMBER(), LAG(), LEAD(), OVER()</a:t>
            </a:r>
            <a:endParaRPr lang="vi-VN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chất lượng SQL Query</a:t>
            </a:r>
            <a:endParaRPr lang="vi-VN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vi-VN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query phải có mục đích rõ ràng và liên kết với Research Question (RQ) tương ứng</a:t>
            </a:r>
            <a:endParaRPr lang="vi-VN" sz="15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vi-VN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trả về kết quả có ý nghỪa, không chỉ SELECT * FROM table mà không xử lý</a:t>
            </a:r>
            <a:endParaRPr lang="vi-VN" sz="15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vi-VN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sử dụng ít nhất 1 kỹ thuật phân tích: JOIN, GROUP BY, Subquery hoặc Window Function</a:t>
            </a:r>
            <a:endParaRPr lang="vi-VN" sz="15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vi-VN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query được hỳa bảng biểu đồ (chart) hoặc bảng tóm tắt trong báo cáo</a:t>
            </a:r>
            <a:endParaRPr lang="vi-VN" sz="15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vi-VN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Log: ghi lại prompt, output AI, phần chỉnh s𞻚 của nhóm (Human Delta)</a:t>
            </a:r>
            <a:endParaRPr lang="vi-VN" sz="15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vi-VN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sao chép query giống nhau — mỗi query phải khác nhau về mục đích và kết quả</a:t>
            </a:r>
            <a:endParaRPr lang="vi-VN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t2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endParaRPr lang="vi-VN"/>
          </a:p>
        </p:txBody>
      </p:sp>
      <p:sp>
        <p:nvSpPr>
          <p:cNvPr id="3" name="Box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vi-VN" dirty="0"/>
          </a:p>
        </p:txBody>
      </p:sp>
      <p:sp>
        <p:nvSpPr>
          <p:cNvPr id="4" name="Box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 &amp; Visualization</a:t>
            </a:r>
            <a:endParaRPr lang="vi-VN" dirty="0"/>
          </a:p>
        </p:txBody>
      </p:sp>
      <p:sp>
        <p:nvSpPr>
          <p:cNvPr id="10" name="Box10"/>
          <p:cNvSpPr/>
          <p:nvPr/>
        </p:nvSpPr>
        <p:spPr>
          <a:xfrm>
            <a:off x="322000" y="2900000"/>
            <a:ext cx="425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vi-VN" dirty="0"/>
          </a:p>
        </p:txBody>
      </p:sp>
      <p:sp>
        <p:nvSpPr>
          <p:cNvPr id="11" name="Box11"/>
          <p:cNvSpPr/>
          <p:nvPr/>
        </p:nvSpPr>
        <p:spPr>
          <a:xfrm>
            <a:off x="4622000" y="2900000"/>
            <a:ext cx="425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Insights</a:t>
            </a:r>
            <a:endParaRPr lang="vi-V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yth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Analysis with Python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187452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present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notebook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Google Colab / GitHub — người chấm có thể chạy lại từ đầu đến cuối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Tạo biến mới, xử lý outliers, encode — giải thích lý do từng bước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analysis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Clustering, classification, time-series... phải liên kết với RQ cụ thể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metrics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F1, RMSE, Silhouette... so sánh ít nhất 2 approaches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 trả lời RQ nào? Insight cụ thể bằng số liệu — không chỉ mô tả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code Python, feature engineering; Human Delta: nhóm sửa gì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Visualization &amp; Evidence-Based Insights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1874520"/>
        </p:xfrm>
        <a:graphic>
          <a:graphicData uri="http://schemas.openxmlformats.org/drawingml/2006/table">
            <a:tbl>
              <a:tblPr/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type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 nào dùng &amp; Yêu cầu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 / KDE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phối biến — cần title, axis labels, nhận xét 1 câu bên dưới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/ Grouped Bar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sánh nhóm — color legend, annotation giá trị, sắp xếp có chủ đích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 hướng theo thời gian — highlight đỉnh / đáy, ghi chú sự kiện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/ Heatmap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Tương quan biến — color scale, correlation coefficient, giải thích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plot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 hiện outliers — kèm nhận xét thống kê về Q1/Q3/IQR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for ALL charts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Mỗi biểu đồ: tiêu đề rõ, nhãn trục, insight evidence-based 1–2 câu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t3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endParaRPr lang="vi-VN"/>
          </a:p>
        </p:txBody>
      </p:sp>
      <p:sp>
        <p:nvSpPr>
          <p:cNvPr id="3" name="Box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vi-VN" dirty="0"/>
          </a:p>
        </p:txBody>
      </p:sp>
      <p:sp>
        <p:nvSpPr>
          <p:cNvPr id="4" name="Box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Modeling, Tool &amp; AI Reflection</a:t>
            </a:r>
            <a:endParaRPr lang="vi-VN" dirty="0"/>
          </a:p>
        </p:txBody>
      </p:sp>
      <p:sp>
        <p:nvSpPr>
          <p:cNvPr id="10" name="Box10"/>
          <p:cNvSpPr/>
          <p:nvPr/>
        </p:nvSpPr>
        <p:spPr>
          <a:xfrm>
            <a:off x="322000" y="2900000"/>
            <a:ext cx="2833333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</a:t>
            </a:r>
            <a:endParaRPr lang="vi-VN" dirty="0"/>
          </a:p>
        </p:txBody>
      </p:sp>
      <p:sp>
        <p:nvSpPr>
          <p:cNvPr id="11" name="Box11"/>
          <p:cNvSpPr/>
          <p:nvPr/>
        </p:nvSpPr>
        <p:spPr>
          <a:xfrm>
            <a:off x="3205333" y="2900000"/>
            <a:ext cx="2833333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Tool</a:t>
            </a:r>
            <a:endParaRPr lang="vi-VN" dirty="0"/>
          </a:p>
        </p:txBody>
      </p:sp>
      <p:sp>
        <p:nvSpPr>
          <p:cNvPr id="12" name="Box12"/>
          <p:cNvSpPr/>
          <p:nvPr/>
        </p:nvSpPr>
        <p:spPr>
          <a:xfrm>
            <a:off x="6088666" y="2900000"/>
            <a:ext cx="2833333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9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+ AI Reflection (20 pts)</a:t>
            </a:r>
            <a:endParaRPr lang="vi-V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re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 Regression Analysis (Compare &gt;= 5 Models)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703800"/>
              </p:ext>
            </p:extLst>
          </p:nvPr>
        </p:nvGraphicFramePr>
        <p:xfrm>
          <a:off x="457200" y="1097280"/>
          <a:ext cx="8229600" cy="2049780"/>
        </p:xfrm>
        <a:graphic>
          <a:graphicData uri="http://schemas.openxmlformats.org/drawingml/2006/table">
            <a:tbl>
              <a:tblPr/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present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choice rationale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Giải thích tại sao chọn mô hình: Linear / Ridge / RF / XGBoost...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 &amp; independent variables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variable và features sử dụng — giải thích lý do chọn từng biến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&gt;= 5 models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tối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thiểu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là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02 model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khác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nhau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 metrics: RMSE, R², MAE — highlight mô hình tốt nhất, lý do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charts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vs Actual, Residual plot, Feature Importance chart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 &amp; limitations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 có ý nghĩa gì? Hạn chế của mô hình là gì? Cải thiện thế nào?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huấn luyện &amp; so sánh; Human Delta: nhóm tự điều chỉnh gì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o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Analysis Tool — Dashboard / Report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1874520"/>
        </p:xfrm>
        <a:graphic>
          <a:graphicData uri="http://schemas.openxmlformats.org/drawingml/2006/table">
            <a:tbl>
              <a:tblPr/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(EN)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tools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(ưu tiên), Tableau, Google Data Studio, Streamlit / Gradio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3 visualizations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biểu đồ interactive khác nhau, mỗi cái liên kết một RQ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/ Summary metrics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revenue, # customers, conversion rate, YoY growth %...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/ Slicer functional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dùng lọc được theo thời gian, danh mục, khu vực — demo live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to RQ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Mỗi chart trong dashboard trả lời cho RQ nào? Ghi chú rõ ràng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prompt thiết kế dashboard; Human Delta; Hallucination check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Q&amp;A + AI Reflection / Human Delta  (20 points)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0" name="Box10"/>
          <p:cNvSpPr/>
          <p:nvPr/>
        </p:nvSpPr>
        <p:spPr>
          <a:xfrm>
            <a:off x="457200" y="1080000"/>
            <a:ext cx="2700000" cy="4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Log</a:t>
            </a:r>
            <a:endParaRPr lang="vi-VN" dirty="0"/>
          </a:p>
        </p:txBody>
      </p:sp>
      <p:sp>
        <p:nvSpPr>
          <p:cNvPr id="11" name="Box11"/>
          <p:cNvSpPr/>
          <p:nvPr/>
        </p:nvSpPr>
        <p:spPr>
          <a:xfrm>
            <a:off x="457200" y="1550000"/>
            <a:ext cx="2700000" cy="31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prompts used (with timestamps)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each AI output: correct / incorrect?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prompt refinement iterations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dẫn: ghi đầy đủ session, không bỏ sót</a:t>
            </a:r>
            <a:endParaRPr lang="vi-VN" dirty="0"/>
          </a:p>
        </p:txBody>
      </p:sp>
      <p:sp>
        <p:nvSpPr>
          <p:cNvPr id="15" name="Box15"/>
          <p:cNvSpPr/>
          <p:nvPr/>
        </p:nvSpPr>
        <p:spPr>
          <a:xfrm>
            <a:off x="3214200" y="1080000"/>
            <a:ext cx="2700000" cy="46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Delta</a:t>
            </a:r>
            <a:endParaRPr lang="vi-VN" dirty="0"/>
          </a:p>
        </p:txBody>
      </p:sp>
      <p:sp>
        <p:nvSpPr>
          <p:cNvPr id="16" name="Box16"/>
          <p:cNvSpPr/>
          <p:nvPr/>
        </p:nvSpPr>
        <p:spPr>
          <a:xfrm>
            <a:off x="3214200" y="1550000"/>
            <a:ext cx="2700000" cy="31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team did WITHOUT AI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decisions made independently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detected &amp; corrected AI errors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dẫn: chứng minh tư duy phản biện của nhóm</a:t>
            </a:r>
            <a:endParaRPr lang="vi-VN" dirty="0"/>
          </a:p>
        </p:txBody>
      </p:sp>
      <p:sp>
        <p:nvSpPr>
          <p:cNvPr id="20" name="Box20"/>
          <p:cNvSpPr/>
          <p:nvPr/>
        </p:nvSpPr>
        <p:spPr>
          <a:xfrm>
            <a:off x="5971200" y="1080000"/>
            <a:ext cx="2700000" cy="4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vi-VN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Check</a:t>
            </a:r>
            <a:endParaRPr lang="vi-VN" dirty="0"/>
          </a:p>
        </p:txBody>
      </p:sp>
      <p:sp>
        <p:nvSpPr>
          <p:cNvPr id="21" name="Box21"/>
          <p:cNvSpPr/>
          <p:nvPr/>
        </p:nvSpPr>
        <p:spPr>
          <a:xfrm>
            <a:off x="5971200" y="1550000"/>
            <a:ext cx="2700000" cy="31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output was wrong / inaccurate?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your team detect the mistake?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used to fact-check (source, test run...)</a:t>
            </a:r>
            <a:endParaRPr lang="vi-VN" dirty="0"/>
          </a:p>
          <a:p>
            <a:pPr marL="228600" indent="-228600">
              <a:spcAft>
                <a:spcPts val="350"/>
              </a:spcAft>
              <a:buChar char="•"/>
            </a:pPr>
            <a:r>
              <a:rPr lang="vi-VN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dẫn: bắt buộc có ít nhất 1 ví dụ cụ thể</a:t>
            </a:r>
            <a:endParaRPr lang="vi-VN" dirty="0"/>
          </a:p>
        </p:txBody>
      </p:sp>
      <p:sp>
        <p:nvSpPr>
          <p:cNvPr id="50" name="Body"/>
          <p:cNvSpPr/>
          <p:nvPr/>
        </p:nvSpPr>
        <p:spPr>
          <a:xfrm>
            <a:off x="457200" y="4830000"/>
            <a:ext cx="822960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session: Giảng viên đặt câu hỏi về kết quả, lý do chọn method, và vai trò từng thành viên. Mỗi thành viên phải trả lời được ít nhất 1 câu hỏi.</a:t>
            </a:r>
            <a:endParaRPr lang="vi-VN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A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Preparation &amp; Time Management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vi-VN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Q&amp;A — lưu ý quan trọng:</a:t>
            </a:r>
            <a:endParaRPr lang="vi-VN" sz="1700" dirty="0"/>
          </a:p>
          <a:p>
            <a:pPr>
              <a:spcAft>
                <a:spcPts val="200"/>
              </a:spcAft>
              <a:buNone/>
            </a:pPr>
            <a:endParaRPr lang="vi-VN" sz="2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must understand ALL analysis steps, not only their own part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explain: 'Why this model/method?' and 'What does the result mean?'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Log must be present and ready to present when asked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was wrong, explain how your team detected and fixed it (Human Delta)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findings back to the Research Questions you stated in Part 1</a:t>
            </a:r>
            <a:endParaRPr lang="vi-VN" sz="1400" dirty="0"/>
          </a:p>
          <a:p>
            <a:pPr>
              <a:spcAft>
                <a:spcPts val="200"/>
              </a:spcAft>
              <a:buNone/>
            </a:pPr>
            <a:endParaRPr lang="vi-VN" sz="300" dirty="0"/>
          </a:p>
          <a:p>
            <a:pPr marL="0" indent="0" algn="l">
              <a:spcAft>
                <a:spcPts val="200"/>
              </a:spcAft>
              <a:buNone/>
            </a:pPr>
            <a:r>
              <a:rPr lang="vi-VN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trình bày tối đa:</a:t>
            </a:r>
            <a:endParaRPr lang="vi-VN" sz="16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(Problem Statement · RQ · Data · SQL):  </a:t>
            </a:r>
            <a:r>
              <a:rPr lang="en-US" sz="14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vi-VN" sz="14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minutes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(Python · Visualization):               </a:t>
            </a: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vi-VN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minutes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(Regression · Tool · Q&amp;A):              </a:t>
            </a:r>
            <a:r>
              <a:rPr lang="en-US" sz="14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vi-VN" sz="14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minutes</a:t>
            </a:r>
            <a:endParaRPr lang="vi-VN" sz="1400" dirty="0"/>
          </a:p>
          <a:p>
            <a:pPr marL="342900" indent="-342900">
              <a:spcAft>
                <a:spcPts val="450"/>
              </a:spcAft>
              <a:buSzPct val="100000"/>
              <a:buChar char="•"/>
            </a:pPr>
            <a:r>
              <a:rPr lang="vi-VN" sz="1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session:                                   </a:t>
            </a:r>
            <a:r>
              <a:rPr lang="en-US" sz="1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vi-VN" sz="14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minutes</a:t>
            </a:r>
            <a:endParaRPr lang="vi-VN" sz="14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vi-VN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≤  </a:t>
            </a: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vi-VN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minutes</a:t>
            </a:r>
            <a:endParaRPr lang="vi-VN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— Before the Presentation</a:t>
            </a:r>
            <a:endParaRPr lang="vi-VN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4" name="Tbl"/>
          <p:cNvGraphicFramePr>
            <a:graphicFrameLocks noGrp="1"/>
          </p:cNvGraphicFramePr>
          <p:nvPr/>
        </p:nvGraphicFramePr>
        <p:xfrm>
          <a:off x="457200" y="1097280"/>
          <a:ext cx="8229600" cy="4100000"/>
        </p:xfrm>
        <a:graphic>
          <a:graphicData uri="http://schemas.openxmlformats.org/drawingml/2006/table">
            <a:tbl>
              <a:tblPr/>
              <a:tblGrid>
                <a:gridCol w="5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item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vi-VN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Questions (min. 3), each linked to an analysis step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queries: group size × 3, minimum 5 — each links to an RQ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SQL query shows: code + result + interpretation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notebook is fully reproducible (re-runnable end-to-end)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chart has title, axis labels, and 1–2 sentence insight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Regression: compared &gt;= 5 models with evaluation metrics table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/ tool can be demo-ed live with working filters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 is complete (prompts + Human Delta + Hallucination)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presentation time &lt;= 35 minutes (timed rehearsal done)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vi-VN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 Done</a:t>
                      </a:r>
                      <a:endParaRPr lang="vi-VN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ke-beamer">
  <a:themeElements>
    <a:clrScheme name="Beamer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331B4"/>
      </a:accent1>
      <a:accent2>
        <a:srgbClr val="26268C"/>
      </a:accent2>
      <a:accent3>
        <a:srgbClr val="1C1B6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amer" id="{99E1F896-D2CB-2744-898B-231E70ADB72B}" vid="{6D0C7D28-E11F-0F48-8979-25ECC39484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fake-beamer</Template>
  <TotalTime>0</TotalTime>
  <Words>1954</Words>
  <Application>Microsoft Office PowerPoint</Application>
  <PresentationFormat>On-screen Show (16:9)</PresentationFormat>
  <Paragraphs>257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CMU Sans Serif Medium</vt:lpstr>
      <vt:lpstr>fake-beamer</vt:lpstr>
      <vt:lpstr> PROJECT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1: Giới thiệu về Máy tính</dc:title>
  <dc:subject>PptxGenJS Presentation</dc:subject>
  <dc:creator>Nhat-Tung Le</dc:creator>
  <cp:lastModifiedBy>Le Nhat Tung</cp:lastModifiedBy>
  <cp:revision>35</cp:revision>
  <dcterms:created xsi:type="dcterms:W3CDTF">2026-05-01T11:03:29Z</dcterms:created>
  <dcterms:modified xsi:type="dcterms:W3CDTF">2026-06-01T03:25:41Z</dcterms:modified>
</cp:coreProperties>
</file>